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f80fcb6084514540"/><Relationship Type="http://schemas.openxmlformats.org/officeDocument/2006/relationships/extended-properties" Target="/docProps/app.xml" Id="Reaa87c60710b4a2f"/><Relationship Type="http://schemas.openxmlformats.org/officeDocument/2006/relationships/officeDocument" Target="/ppt/presentation.xml" Id="Rb7cd74357fb84124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fb7165d07b4eb8"/>
  </p:sldMasterIdLst>
  <p:notesMasterIdLst>
    <p:notesMasterId xmlns:r="http://schemas.openxmlformats.org/officeDocument/2006/relationships" r:id="R7a4b8427f33243eb"/>
  </p:notesMasterIdLst>
  <p:sldIdLst>
    <p:sldId xmlns:r="http://schemas.openxmlformats.org/officeDocument/2006/relationships" id="256" r:id="Rc4634ceb20504031"/>
    <p:sldId xmlns:r="http://schemas.openxmlformats.org/officeDocument/2006/relationships" id="257" r:id="R7dabd1c2324c4ab7"/>
    <p:sldId xmlns:r="http://schemas.openxmlformats.org/officeDocument/2006/relationships" id="258" r:id="Rff8e62af84404d3e"/>
    <p:sldId xmlns:r="http://schemas.openxmlformats.org/officeDocument/2006/relationships" id="259" r:id="Rabf06632d0d64c98"/>
    <p:sldId xmlns:r="http://schemas.openxmlformats.org/officeDocument/2006/relationships" id="260" r:id="R6daa05bc8fa74ce2"/>
    <p:sldId xmlns:r="http://schemas.openxmlformats.org/officeDocument/2006/relationships" id="261" r:id="Ra2298ce0b3f84ad7"/>
    <p:sldId xmlns:r="http://schemas.openxmlformats.org/officeDocument/2006/relationships" id="262" r:id="Raa8609a2cdcf43b8"/>
    <p:sldId xmlns:r="http://schemas.openxmlformats.org/officeDocument/2006/relationships" id="263" r:id="R1015a9231aec4bfa"/>
    <p:sldId xmlns:r="http://schemas.openxmlformats.org/officeDocument/2006/relationships" id="264" r:id="R8340ff3115564af0"/>
    <p:sldId xmlns:r="http://schemas.openxmlformats.org/officeDocument/2006/relationships" id="265" r:id="R2ec56db8c5494ae8"/>
    <p:sldId xmlns:r="http://schemas.openxmlformats.org/officeDocument/2006/relationships" id="266" r:id="Rbbb1a2b90a38475c"/>
    <p:sldId xmlns:r="http://schemas.openxmlformats.org/officeDocument/2006/relationships" id="267" r:id="Rcab753bfa3844e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1a32030244ac46ca"/><Relationship Type="http://schemas.openxmlformats.org/officeDocument/2006/relationships/slideMaster" Target="/ppt/slideMasters/slideMaster1.xml" Id="R06fb7165d07b4eb8"/><Relationship Type="http://schemas.openxmlformats.org/officeDocument/2006/relationships/notesMaster" Target="/ppt/notesMasters/notesMaster1.xml" Id="R7a4b8427f33243eb"/><Relationship Type="http://schemas.openxmlformats.org/officeDocument/2006/relationships/presProps" Target="/ppt/presProps.xml" Id="Ra00b797deaa64032"/><Relationship Type="http://schemas.openxmlformats.org/officeDocument/2006/relationships/tableStyles" Target="/ppt/tableStyles.xml" Id="R8829b17caa464d92"/><Relationship Type="http://schemas.openxmlformats.org/officeDocument/2006/relationships/slide" Target="/ppt/slides/slide1.xml" Id="Rc4634ceb20504031"/><Relationship Type="http://schemas.openxmlformats.org/officeDocument/2006/relationships/slide" Target="/ppt/slides/slide2.xml" Id="R7dabd1c2324c4ab7"/><Relationship Type="http://schemas.openxmlformats.org/officeDocument/2006/relationships/slide" Target="/ppt/slides/slide3.xml" Id="Rff8e62af84404d3e"/><Relationship Type="http://schemas.openxmlformats.org/officeDocument/2006/relationships/slide" Target="/ppt/slides/slide4.xml" Id="Rabf06632d0d64c98"/><Relationship Type="http://schemas.openxmlformats.org/officeDocument/2006/relationships/slide" Target="/ppt/slides/slide5.xml" Id="R6daa05bc8fa74ce2"/><Relationship Type="http://schemas.openxmlformats.org/officeDocument/2006/relationships/slide" Target="/ppt/slides/slide6.xml" Id="Ra2298ce0b3f84ad7"/><Relationship Type="http://schemas.openxmlformats.org/officeDocument/2006/relationships/slide" Target="/ppt/slides/slide7.xml" Id="Raa8609a2cdcf43b8"/><Relationship Type="http://schemas.openxmlformats.org/officeDocument/2006/relationships/slide" Target="/ppt/slides/slide8.xml" Id="R1015a9231aec4bfa"/><Relationship Type="http://schemas.openxmlformats.org/officeDocument/2006/relationships/slide" Target="/ppt/slides/slide9.xml" Id="R8340ff3115564af0"/><Relationship Type="http://schemas.openxmlformats.org/officeDocument/2006/relationships/slide" Target="/ppt/slides/slide10.xml" Id="R2ec56db8c5494ae8"/><Relationship Type="http://schemas.openxmlformats.org/officeDocument/2006/relationships/slide" Target="/ppt/slides/slide11.xml" Id="Rbbb1a2b90a38475c"/><Relationship Type="http://schemas.openxmlformats.org/officeDocument/2006/relationships/slide" Target="/ppt/slides/slide12.xml" Id="Rcab753bfa3844e0b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af3f02ed342d46a4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4ae4fadbdda642ea"/><Relationship Type="http://schemas.openxmlformats.org/officeDocument/2006/relationships/notesMaster" Target="/ppt/notesMasters/notesMaster1.xml" Id="R595c2ade75c347d4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0a1ac509fc774937"/><Relationship Type="http://schemas.openxmlformats.org/officeDocument/2006/relationships/notesMaster" Target="/ppt/notesMasters/notesMaster1.xml" Id="R56953bf33b414b4f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cd32aea199be47f0"/><Relationship Type="http://schemas.openxmlformats.org/officeDocument/2006/relationships/notesMaster" Target="/ppt/notesMasters/notesMaster1.xml" Id="R7f3731168f9e4055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e590d56df08b49f3"/><Relationship Type="http://schemas.openxmlformats.org/officeDocument/2006/relationships/notesMaster" Target="/ppt/notesMasters/notesMaster1.xml" Id="R44d8e101b6d64ec0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87b0e98c351d463f"/><Relationship Type="http://schemas.openxmlformats.org/officeDocument/2006/relationships/notesMaster" Target="/ppt/notesMasters/notesMaster1.xml" Id="Rab22ce88f94a4c21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1f6e07b458d749c4"/><Relationship Type="http://schemas.openxmlformats.org/officeDocument/2006/relationships/notesMaster" Target="/ppt/notesMasters/notesMaster1.xml" Id="Rf8ef6c65777f4658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89d624e137cd470b"/><Relationship Type="http://schemas.openxmlformats.org/officeDocument/2006/relationships/notesMaster" Target="/ppt/notesMasters/notesMaster1.xml" Id="Rb06f8165778a4209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f0b8cbb8d9ce4b55"/><Relationship Type="http://schemas.openxmlformats.org/officeDocument/2006/relationships/notesMaster" Target="/ppt/notesMasters/notesMaster1.xml" Id="R4f4f102234a04d0b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e0f7273ba25e439f"/><Relationship Type="http://schemas.openxmlformats.org/officeDocument/2006/relationships/notesMaster" Target="/ppt/notesMasters/notesMaster1.xml" Id="Rf0c406435d21462b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766d8d0f00cf4002"/><Relationship Type="http://schemas.openxmlformats.org/officeDocument/2006/relationships/notesMaster" Target="/ppt/notesMasters/notesMaster1.xml" Id="R71dbfa463f0c40ce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31b6c0642641443d"/><Relationship Type="http://schemas.openxmlformats.org/officeDocument/2006/relationships/notesMaster" Target="/ppt/notesMasters/notesMaster1.xml" Id="R72f5f031ef3145a0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/ppt/slides/slide12.xml" Id="R5d1933910ea84c94"/><Relationship Type="http://schemas.openxmlformats.org/officeDocument/2006/relationships/notesMaster" Target="/ppt/notesMasters/notesMaster1.xml" Id="Rd1c572ba0761403d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المصدر: الملف التعريفي للشركة والمقترح الأصلي وتوجيهات مقدم العرض. الأرقام تخطيطية ما لم يذكر خلاف ذلك.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المصدر: الملف التعريفي للشركة والمقترح الأصلي وتوجيهات مقدم العرض. الأرقام تخطيطية ما لم يذكر خلاف ذلك. الخبرات بحسب إفادة الشركة وليست موثقة بصور في هذا العرض.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المصدر: الملف التعريفي للشركة والمقترح الأصلي وتوجيهات مقدم العرض. الأرقام تخطيطية ما لم يذكر خلاف ذلك.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المصدر: الملف التعريفي للشركة والمقترح الأصلي وتوجيهات مقدم العرض. الأرقام تخطيطية ما لم يذكر خلاف ذلك. تحقق الموقع العام لبرسيق: https://sis.gov.eg/ar/المركز-الإعلامي/الأخبار/المدير-التنفيذي-لجهاز-حماية-وتنمية-البحيرات-يتفقد-موسم-الصيد/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المصدر: الملف التعريفي للشركة والمقترح الأصلي وتوجيهات مقدم العرض. الأرقام تخطيطية ما لم يذكر خلاف ذلك. الصورة مولدة لتوضيح المقترح، ولا تمثل صورة موقع فعلي.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المصدر: الملف التعريفي للشركة والمقترح الأصلي وتوجيهات مقدم العرض. الأرقام تخطيطية ما لم يذكر خلاف ذلك.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المصدر: الملف التعريفي للشركة والمقترح الأصلي وتوجيهات مقدم العرض. الأرقام تخطيطية ما لم يذكر خلاف ذلك. السيناريو الافتراضي: صافي85%، إنتاجية6طن/فدان إنتاجي/سنة، جميعها عند الاستقرار وليست ضمانات.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المصدر: الملف التعريفي للشركة والمقترح الأصلي وتوجيهات مقدم العرض. الأرقام تخطيطية ما لم يذكر خلاف ذلك. يبدأ التوقيت من التسليم واعتماد النطاق والتمويل؛ أول حصاد رهين موعد التخزين والنمو والموسم.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المصدر: الملف التعريفي للشركة والمقترح الأصلي وتوجيهات مقدم العرض. الأرقام تخطيطية ما لم يذكر خلاف ذلك. سعر العلف26000جنيه للطن من المصدر كمثال غير متحقق سوقياً؛ لا يتضمن باقي التشغيل أو الاستثمار.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المصدر: الملف التعريفي للشركة والمقترح الأصلي وتوجيهات مقدم العرض. الأرقام تخطيطية ما لم يذكر خلاف ذلك. البوابة ولوحة المتابعة نموذج مقترح ببيانات افتراضية، دون اتصال بالمزارع.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المصدر: الملف التعريفي للشركة والمقترح الأصلي وتوجيهات مقدم العرض. الأرقام تخطيطية ما لم يذكر خلاف ذلك.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المصدر: الملف التعريفي للشركة والمقترح الأصلي وتوجيهات مقدم العرض. الأرقام تخطيطية ما لم يذكر خلاف ذلك. رابط البوابة: https://platinum-horse-aqua.dana-je-soboh.chatgpt.site. الرابط متاح للعامة دون تسجيل دخول.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850bb923befd4b49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1a0956d572f141f9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a666febe3bfe426e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4c986ec37a2e47aa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7bd5806819644493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07376e185da64cb8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EF7581-67AC-45CB-9700-6977441B47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C13A7F7-BCCD-47EB-BB1C-B207B535883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CDF3286-BBAD-467F-A44D-07674B8234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5344A9-508C-4F16-9E81-05561763F6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EFB8ABD-A15D-4BD9-8CBC-025A1FCF84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43D026-2F9A-4086-B16D-F24EA81718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EED748-8B58-4D9E-8ACE-B7AC92A0A7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EE58EF9-7A87-4686-9B5D-3DAE905F6A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DA6246-5498-4CF6-8D69-F75F7F3C0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669E44B-CD6D-42E6-BE76-D31A533E68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d12066c39c3c49e9"/><Relationship Type="http://schemas.openxmlformats.org/officeDocument/2006/relationships/slideLayout" Target="/ppt/slideLayouts/slideLayout1.xml" Id="Rc0ee51bd814c45ef"/><Relationship Type="http://schemas.openxmlformats.org/officeDocument/2006/relationships/slideLayout" Target="/ppt/slideLayouts/slideLayout2.xml" Id="Rad1ae158993e4925"/><Relationship Type="http://schemas.openxmlformats.org/officeDocument/2006/relationships/slideLayout" Target="/ppt/slideLayouts/slideLayout3.xml" Id="R1d6190b14f4a41ba"/><Relationship Type="http://schemas.openxmlformats.org/officeDocument/2006/relationships/slideLayout" Target="/ppt/slideLayouts/slideLayout4.xml" Id="R4842ca730dff4919"/><Relationship Type="http://schemas.openxmlformats.org/officeDocument/2006/relationships/slideLayout" Target="/ppt/slideLayouts/slideLayout5.xml" Id="R703802c254af43b2"/><Relationship Type="http://schemas.openxmlformats.org/officeDocument/2006/relationships/slideLayout" Target="/ppt/slideLayouts/slideLayout6.xml" Id="R8bc5b7ba195a48a6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ee51bd814c45ef"/>
    <p:sldLayoutId xmlns:r="http://schemas.openxmlformats.org/officeDocument/2006/relationships" id="2147483650" r:id="Rad1ae158993e4925"/>
    <p:sldLayoutId xmlns:r="http://schemas.openxmlformats.org/officeDocument/2006/relationships" id="2147483651" r:id="R1d6190b14f4a41ba"/>
    <p:sldLayoutId xmlns:r="http://schemas.openxmlformats.org/officeDocument/2006/relationships" id="2147483652" r:id="R4842ca730dff4919"/>
    <p:sldLayoutId xmlns:r="http://schemas.openxmlformats.org/officeDocument/2006/relationships" id="2147483653" r:id="R703802c254af43b2"/>
    <p:sldLayoutId xmlns:r="http://schemas.openxmlformats.org/officeDocument/2006/relationships" id="2147483654" r:id="R8bc5b7ba195a48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4d959ed71974acd"/><Relationship Type="http://schemas.openxmlformats.org/officeDocument/2006/relationships/image" Target="/ppt/media/image.png" Id="R64e8c2c897b34214"/><Relationship Type="http://schemas.openxmlformats.org/officeDocument/2006/relationships/image" Target="/ppt/media/image2.png" Id="R8e2e3fc8f5ee46d3"/><Relationship Type="http://schemas.openxmlformats.org/officeDocument/2006/relationships/notesSlide" Target="/ppt/notesSlides/notesSlide1.xml" Id="R7b6b6c1748374a13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1a6ce090eae4f0f"/><Relationship Type="http://schemas.openxmlformats.org/officeDocument/2006/relationships/image" Target="/ppt/media/image3.png" Id="R67f6f13e4e6d482e"/><Relationship Type="http://schemas.openxmlformats.org/officeDocument/2006/relationships/notesSlide" Target="/ppt/notesSlides/notesSlide2.xml" Id="R42a0d72e90344986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b0763e170854226"/><Relationship Type="http://schemas.openxmlformats.org/officeDocument/2006/relationships/image" Target="../media/image3.png" Id="Rf110e2ed8f2f47b6"/><Relationship Type="http://schemas.openxmlformats.org/officeDocument/2006/relationships/notesSlide" Target="/ppt/notesSlides/notesSlide3.xml" Id="Rb7028f64b75541dd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16b42ac41204d61"/><Relationship Type="http://schemas.openxmlformats.org/officeDocument/2006/relationships/image" Target="../media/image3.png" Id="Rc6b2c86e32f6495b"/><Relationship Type="http://schemas.openxmlformats.org/officeDocument/2006/relationships/notesSlide" Target="/ppt/notesSlides/notesSlide4.xml" Id="Rfbd9d74293584b3d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a0aeaef77ac4cdf"/><Relationship Type="http://schemas.openxmlformats.org/officeDocument/2006/relationships/image" Target="../media/image3.png" Id="R6a16bcc45a584d30"/><Relationship Type="http://schemas.openxmlformats.org/officeDocument/2006/relationships/image" Target="../media/image2.png" Id="Rd0d42fbc76b74f0f"/><Relationship Type="http://schemas.openxmlformats.org/officeDocument/2006/relationships/notesSlide" Target="/ppt/notesSlides/notesSlide5.xml" Id="R83c39f0fd71040d3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22847066fbe4c5f"/><Relationship Type="http://schemas.openxmlformats.org/officeDocument/2006/relationships/image" Target="../media/image3.png" Id="Rdda09732165b4577"/><Relationship Type="http://schemas.openxmlformats.org/officeDocument/2006/relationships/notesSlide" Target="/ppt/notesSlides/notesSlide6.xml" Id="R3d50ca2db58441fa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8251eae2b6949d5"/><Relationship Type="http://schemas.openxmlformats.org/officeDocument/2006/relationships/image" Target="../media/image3.png" Id="R99ca26e7473d445c"/><Relationship Type="http://schemas.openxmlformats.org/officeDocument/2006/relationships/notesSlide" Target="/ppt/notesSlides/notesSlide7.xml" Id="R6d4ddb4e30d341cb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65e2da205bb4140"/><Relationship Type="http://schemas.openxmlformats.org/officeDocument/2006/relationships/image" Target="../media/image3.png" Id="R53df1f4cfd28462e"/><Relationship Type="http://schemas.openxmlformats.org/officeDocument/2006/relationships/notesSlide" Target="/ppt/notesSlides/notesSlide8.xml" Id="Rbcce39ad06914af7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3d56c7bca0a4f5c"/><Relationship Type="http://schemas.openxmlformats.org/officeDocument/2006/relationships/image" Target="../media/image3.png" Id="R2c1e77987f6a46c1"/><Relationship Type="http://schemas.openxmlformats.org/officeDocument/2006/relationships/notesSlide" Target="/ppt/notesSlides/notesSlide9.xml" Id="Ra65cc30195f3425b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602723231934bf3"/><Relationship Type="http://schemas.openxmlformats.org/officeDocument/2006/relationships/image" Target="../media/image3.png" Id="Ra3dfc7ce2d544b31"/><Relationship Type="http://schemas.openxmlformats.org/officeDocument/2006/relationships/notesSlide" Target="/ppt/notesSlides/notesSlide10.xml" Id="Rb091ce2fd19741b9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461b4bf5c32486d"/><Relationship Type="http://schemas.openxmlformats.org/officeDocument/2006/relationships/image" Target="../media/image3.png" Id="R257d48edc97f40a9"/><Relationship Type="http://schemas.openxmlformats.org/officeDocument/2006/relationships/notesSlide" Target="/ppt/notesSlides/notesSlide11.xml" Id="R18c8d569046d4368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07fa3d6ed7946f5"/><Relationship Type="http://schemas.openxmlformats.org/officeDocument/2006/relationships/image" Target="../media/image3.png" Id="Rb6861ae140a14d0b"/><Relationship Type="http://schemas.openxmlformats.org/officeDocument/2006/relationships/image" Target="/ppt/media/image15.png" Id="R0cf06172f40f43e3"/><Relationship Type="http://schemas.openxmlformats.org/officeDocument/2006/relationships/hyperlink" Target="https://platinum-horse-aqua.dana-je-soboh.chatgpt.site" TargetMode="External" Id="R75e0b9eecd0f49a6"/><Relationship Type="http://schemas.openxmlformats.org/officeDocument/2006/relationships/notesSlide" Target="/ppt/notesSlides/notesSlide12.xml" Id="R7880d1e642aa4ec3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88CB8-1D09-46D1-B0DE-1166DA377F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8c2c897b34214"/>
          <ns0:srcRect xmlns:ns0="http://schemas.openxmlformats.org/drawingml/2006/main" b="268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142875"/>
            <a:ext cx="11430000" cy="19526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05F7C-A59A-4634-93B1-FA671FE7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775" b="1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2775" b="1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rPr>
              <a:t>تطوير وتشغيل ثلاث مزارع للاستزراع السمكي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6ADB3-9658-4DED-A19A-566C0A4A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87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875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مقدم إلى جهاز مستقبل مصر للتنمية المستدامة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8BC6B-22E9-4C7B-A923-BBE15280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0F7E6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650" b="0" lang="ar-EG">
                <a:solidFill>
                  <a:srgbClr val="0F7E6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lang="ar-EG">
                <a:solidFill>
                  <a:srgbClr val="0F7E6C"/>
                </a:solidFill>
                <a:latin typeface="DejaVu Sans"/>
                <a:ea typeface="DejaVu Sans"/>
                <a:cs typeface="DejaVu Sans"/>
              </a:rPr>
              <a:t>٣٦٠٠ فدان إجمالي المساحة | ١٢ أكتوبر ٢٠٢٦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22229-25B8-435C-98F2-EF66F518E9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e3fc8f5ee46d3"/>
          <a:srcRect xmlns:a="http://schemas.openxmlformats.org/drawingml/2006/main" l="0" t="34531" r="0" b="345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733800"/>
            <a:ext cx="12192000" cy="25146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A19AF-E3D7-4373-A58A-BB83BB50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275" b="0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rPr>
              <a:t>تصور مقترح غير مقياسي؛ لا يمثل مشروعاً منفذاً</a:t>
            </a:r>
          </a:p>
        </p:txBody>
      </p:sp>
    </p:spTree>
    <p:extLst>
      <p:ext uri="{BB962C8B-B14F-4D97-AF65-F5344CB8AC3E}">
        <p14:creationId xmlns:p14="http://schemas.microsoft.com/office/powerpoint/2010/main" val="17998326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E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970B2-4839-4BCE-AF80-AE02F36074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6f13e4e6d482e"/>
          <a:stretch xmlns:a="http://schemas.openxmlformats.org/drawingml/2006/main"/>
        </p:blipFill>
        <p:spPr>
          <a:xfrm xmlns:a="http://schemas.openxmlformats.org/drawingml/2006/main">
            <a:off x="190500" y="272795"/>
            <a:ext cx="904875" cy="8355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BC381-C0D5-4549-99DA-8AD9B95A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000"/>
            <a:ext cx="10239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3150" b="1" lang="ar-EG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lang="ar-EG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الشركة والخبرة التشغيلية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D3F9A-2ABE-4CFF-A607-CAABAC9D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AEC9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125" b="0" lang="ar-EG">
                <a:solidFill>
                  <a:srgbClr val="AEC9C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lang="ar-EG">
                <a:solidFill>
                  <a:srgbClr val="AEC9C0"/>
                </a:solidFill>
                <a:latin typeface="DejaVu Sans"/>
                <a:ea typeface="DejaVu Sans"/>
                <a:cs typeface="DejaVu Sans"/>
              </a:rPr>
              <a:t>الحصان البلاتيني | مقدم إلى جهاز مستقبل مصر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AFD04-4445-4130-8B25-3E3408FA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AEC9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AEC9C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EC9C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48F6E-45D5-46E5-86B4-5FBADD04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8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2850" b="0" lang="ar-EG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 lang="ar-EG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خبرة ميدانية في إدارة الدورة السمكية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770F1-ACAA-431E-8DB1-AD14CFE6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025" b="0">
                <a:solidFill>
                  <a:srgbClr val="D4E8D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2025" b="0" lang="ar-EG">
                <a:solidFill>
                  <a:srgbClr val="D4E8D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lang="ar-EG">
                <a:solidFill>
                  <a:srgbClr val="D4E8DF"/>
                </a:solidFill>
                <a:latin typeface="DejaVu Sans"/>
                <a:ea typeface="DejaVu Sans"/>
                <a:cs typeface="DejaVu Sans"/>
              </a:rPr>
              <a:t>تشغيل المزارع وإدارة الأحواض والتغذية ومتابعة النمو والحصاد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4F9CC-6084-40AF-BBE4-CAF26920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025" b="0">
                <a:solidFill>
                  <a:srgbClr val="D4E8D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2025" b="0" lang="ar-EG">
                <a:solidFill>
                  <a:srgbClr val="D4E8D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lang="ar-EG">
                <a:solidFill>
                  <a:srgbClr val="D4E8DF"/>
                </a:solidFill>
                <a:latin typeface="DejaVu Sans"/>
                <a:ea typeface="DejaVu Sans"/>
                <a:cs typeface="DejaVu Sans"/>
              </a:rPr>
              <a:t>إنشاء وتجهيز وتشغيل المفرخات ورعاية زريعة البلطي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1239E-F450-4412-B5B0-D4243AE6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025" b="0">
                <a:solidFill>
                  <a:srgbClr val="D4E8D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2025" b="0" lang="ar-EG">
                <a:solidFill>
                  <a:srgbClr val="D4E8D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lang="ar-EG">
                <a:solidFill>
                  <a:srgbClr val="D4E8DF"/>
                </a:solidFill>
                <a:latin typeface="DejaVu Sans"/>
                <a:ea typeface="DejaVu Sans"/>
                <a:cs typeface="DejaVu Sans"/>
              </a:rPr>
              <a:t>تجميع وتحضين زريعة البوري والطوبار حتى الإصبعيات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0FEEE-88AC-4DE1-8DD6-4EA749E8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625" b="0">
                <a:solidFill>
                  <a:srgbClr val="9AD5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2625" b="0" lang="ar-EG">
                <a:solidFill>
                  <a:srgbClr val="9AD5C0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 lang="ar-EG">
                <a:solidFill>
                  <a:srgbClr val="9AD5C0"/>
                </a:solidFill>
                <a:latin typeface="DejaVu Sans"/>
                <a:ea typeface="DejaVu Sans"/>
                <a:cs typeface="DejaVu Sans"/>
              </a:rPr>
              <a:t>٩٩٤ فداناً ضمن مواقع الخبرات المعروضة</a:t>
            </a:r>
          </a:p>
        </p:txBody>
      </p:sp>
    </p:spTree>
    <p:extLst>
      <p:ext uri="{BB962C8B-B14F-4D97-AF65-F5344CB8AC3E}">
        <p14:creationId xmlns:p14="http://schemas.microsoft.com/office/powerpoint/2010/main" val="3578483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59CD3-ABA3-49D3-9CCE-5CD548F6EA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0e2ed8f2f47b6"/>
          <a:stretch xmlns:a="http://schemas.openxmlformats.org/drawingml/2006/main"/>
        </p:blipFill>
        <p:spPr>
          <a:xfrm xmlns:a="http://schemas.openxmlformats.org/drawingml/2006/main">
            <a:off x="190500" y="272795"/>
            <a:ext cx="904875" cy="8355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99932-AF0C-4786-8AEB-86921F3B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000"/>
            <a:ext cx="10239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3150" b="1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3150" b="1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rPr>
              <a:t>مواقع الخبرات السابقة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037BE-D4BF-4C41-A1A2-044939BF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125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الحصان البلاتيني | مقدم إلى جهاز مستقبل مصر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C4D4F-D1B5-4B73-ABED-AFE0DE98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80ABE-C552-4F1E-9A72-A0F5654A3E3A}"/>
              </a:ext>
            </a:extLst>
          </p:cNvPr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8585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1238250"/>
                <a:gridCol w="4191000"/>
              </a:tblGrid>
              <a:tr h="762000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1" lang="ar-EG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طبيعة العمل بحسب ملف الشركة</a:t>
                      </a:r>
                    </a:p>
                  </a:txBody>
                  <a:tcPr marL="91440" marR="91440" marT="45720" marB="45720" anchor="ctr">
                    <a:solidFill>
                      <a:srgbClr val="102E3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1" lang="ar-EG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فدان</a:t>
                      </a:r>
                    </a:p>
                  </a:txBody>
                  <a:tcPr marL="91440" marR="91440" marT="45720" marB="45720" anchor="ctr">
                    <a:solidFill>
                      <a:srgbClr val="102E3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1" lang="ar-EG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الموقع</a:t>
                      </a:r>
                    </a:p>
                  </a:txBody>
                  <a:tcPr marL="91440" marR="91440" marT="45720" marB="45720" anchor="ctr">
                    <a:solidFill>
                      <a:srgbClr val="102E3D"/>
                    </a:solidFill>
                  </a:tcPr>
                </a:tc>
              </a:tr>
              <a:tr h="762000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تشغيل وإدارة خلال ٢٠٠٢–٢٠١٩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٢٥٠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سهل الطينة — شرق بورسعيد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</a:tr>
              <a:tr h="762000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تجهيز ومتابعة الإنتاج والحصاد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٣٠٠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كفر الشيخ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تشغيل ورعاية وتغذية ونمو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١٨٠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قلابشو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</a:tr>
              <a:tr h="762000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تجهيز وتشغيل ومتابعة الدورة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٢٦٤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جمصة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C8A10-0285-45ED-B5C5-44CAAC31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02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500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الخبرات وفق إفادة الشركة؛ المساحات لا تثبت ملكية المواقع أو تشغيلها الحالي</a:t>
            </a:r>
          </a:p>
        </p:txBody>
      </p:sp>
    </p:spTree>
    <p:extLst>
      <p:ext uri="{BB962C8B-B14F-4D97-AF65-F5344CB8AC3E}">
        <p14:creationId xmlns:p14="http://schemas.microsoft.com/office/powerpoint/2010/main" val="19756295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090AD-A64E-407B-AA13-E5B0C35301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2c86e32f6495b"/>
          <a:stretch xmlns:a="http://schemas.openxmlformats.org/drawingml/2006/main"/>
        </p:blipFill>
        <p:spPr>
          <a:xfrm xmlns:a="http://schemas.openxmlformats.org/drawingml/2006/main">
            <a:off x="190500" y="272795"/>
            <a:ext cx="904875" cy="8355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8C163-49A9-4790-8938-EA7C26CE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000"/>
            <a:ext cx="10239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3150" b="1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3150" b="1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rPr>
              <a:t>نطاق المشروع المقترح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B9782-9053-4D49-B4F0-64E24EF8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125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الحصان البلاتيني | مقدم إلى جهاز مستقبل مصر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29768-7E87-42A6-BAE2-3B175853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63529-533B-44F8-AC4A-9C842396F085}"/>
              </a:ext>
            </a:extLst>
          </p:cNvPr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2476500"/>
                <a:gridCol w="2952750"/>
              </a:tblGrid>
              <a:tr h="742950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1" lang="ar-EG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توصيف الموقع</a:t>
                      </a:r>
                    </a:p>
                  </a:txBody>
                  <a:tcPr marL="91440" marR="91440" marT="45720" marB="45720" anchor="ctr">
                    <a:solidFill>
                      <a:srgbClr val="102E3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1" lang="ar-EG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فدان إجمالي</a:t>
                      </a:r>
                    </a:p>
                  </a:txBody>
                  <a:tcPr marL="91440" marR="91440" marT="45720" marB="45720" anchor="ctr">
                    <a:solidFill>
                      <a:srgbClr val="102E3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1" lang="ar-EG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المزرعة</a:t>
                      </a:r>
                    </a:p>
                  </a:txBody>
                  <a:tcPr marL="91440" marR="91440" marT="45720" marB="45720" anchor="ctr">
                    <a:solidFill>
                      <a:srgbClr val="102E3D"/>
                    </a:solidFill>
                  </a:tcPr>
                </a:tc>
              </a:tr>
              <a:tr h="742950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البحيرة بحسب بيانات الشركة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١٠٠٠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البقعة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</a:tr>
              <a:tr h="742950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الموقع الدقيق يعتمد عند التسليم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٢٠٠٠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المطار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نطاق بحيرة إدكو — البحيرة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٦٠٠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برسيق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</a:tr>
              <a:tr h="742950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ثلاثة مواقع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٣٦٠٠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الإجمالي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E1F8A-16E9-42E4-8D7D-EB921226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650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تعتمد الأسماء والحدود الدقيقة من محاضر التسليم؛ لكل موقع دراسة مستقلة</a:t>
            </a:r>
          </a:p>
        </p:txBody>
      </p:sp>
    </p:spTree>
    <p:extLst>
      <p:ext uri="{BB962C8B-B14F-4D97-AF65-F5344CB8AC3E}">
        <p14:creationId xmlns:p14="http://schemas.microsoft.com/office/powerpoint/2010/main" val="146653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4792E-A19F-474E-94BD-C5006CDC40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6bcc45a584d30"/>
          <a:stretch xmlns:a="http://schemas.openxmlformats.org/drawingml/2006/main"/>
        </p:blipFill>
        <p:spPr>
          <a:xfrm xmlns:a="http://schemas.openxmlformats.org/drawingml/2006/main">
            <a:off x="190500" y="272795"/>
            <a:ext cx="904875" cy="8355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0C62E-0F8D-4BC8-B180-9384B077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000"/>
            <a:ext cx="10239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3150" b="1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3150" b="1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rPr>
              <a:t>التصور الأولي لمكونات المشروع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55D9B-E2C7-4E81-B62D-A0927AD8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125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الحصان البلاتيني | مقدم إلى جهاز مستقبل مصر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5A291-10D6-4443-9B6C-2E6E4E42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9BDAC-9A35-4210-8C02-2851FBDF31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42fbc76b74f0f"/>
          <a:stretch xmlns:a="http://schemas.openxmlformats.org/drawingml/2006/main"/>
        </p:blipFill>
        <p:spPr>
          <a:xfrm xmlns:a="http://schemas.openxmlformats.org/drawingml/2006/main">
            <a:off x="2631281" y="1257300"/>
            <a:ext cx="6929438" cy="4619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CCA76-7D59-4400-84E6-2A66BF8F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350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نموذج ١٠٠٠ فدان إنتاجي غير مقياسي؛ يعتمد التصميم بعد دراسة كل موقع</a:t>
            </a:r>
          </a:p>
        </p:txBody>
      </p:sp>
    </p:spTree>
    <p:extLst>
      <p:ext uri="{BB962C8B-B14F-4D97-AF65-F5344CB8AC3E}">
        <p14:creationId xmlns:p14="http://schemas.microsoft.com/office/powerpoint/2010/main" val="10040308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E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65141-F5C4-4CA0-A99D-1DE3A75CBE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09732165b4577"/>
          <a:stretch xmlns:a="http://schemas.openxmlformats.org/drawingml/2006/main"/>
        </p:blipFill>
        <p:spPr>
          <a:xfrm xmlns:a="http://schemas.openxmlformats.org/drawingml/2006/main">
            <a:off x="190500" y="272795"/>
            <a:ext cx="904875" cy="8355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EE310-D6A2-4271-9A16-CE724019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000"/>
            <a:ext cx="10239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3150" b="1" lang="ar-EG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lang="ar-EG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برنامج التشغيل والدورة الإنتاجية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F4826-7A3E-4896-A9FA-3962D412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AEC9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125" b="0" lang="ar-EG">
                <a:solidFill>
                  <a:srgbClr val="AEC9C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lang="ar-EG">
                <a:solidFill>
                  <a:srgbClr val="AEC9C0"/>
                </a:solidFill>
                <a:latin typeface="DejaVu Sans"/>
                <a:ea typeface="DejaVu Sans"/>
                <a:cs typeface="DejaVu Sans"/>
              </a:rPr>
              <a:t>الحصان البلاتيني | مقدم إلى جهاز مستقبل مصر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B6D32-6B9B-452D-AD30-E178ECD8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AEC9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AEC9C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EC9C0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08C5E-177A-4092-AF18-F99894E6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954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550" b="1">
                <a:solidFill>
                  <a:srgbClr val="9AD5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2550" b="1" lang="ar-EG">
                <a:solidFill>
                  <a:srgbClr val="9AD5C0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lang="ar-EG">
                <a:solidFill>
                  <a:srgbClr val="9AD5C0"/>
                </a:solidFill>
                <a:latin typeface="DejaVu Sans"/>
                <a:ea typeface="DejaVu Sans"/>
                <a:cs typeface="DejaVu Sans"/>
              </a:rPr>
              <a:t>الزريعة والحضانة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42BAA-BD7D-458C-A378-6B7FE660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5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950" b="0" lang="ar-EG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 lang="ar-EG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فحص وتوريد وتحضين بحسب الأنواع والمياه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5D8B4-94FA-4DE4-8F86-F4B5EA96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1937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550" b="1">
                <a:solidFill>
                  <a:srgbClr val="9AD5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2550" b="1" lang="ar-EG">
                <a:solidFill>
                  <a:srgbClr val="9AD5C0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lang="ar-EG">
                <a:solidFill>
                  <a:srgbClr val="9AD5C0"/>
                </a:solidFill>
                <a:latin typeface="DejaVu Sans"/>
                <a:ea typeface="DejaVu Sans"/>
                <a:cs typeface="DejaVu Sans"/>
              </a:rPr>
              <a:t>التخزين والتربية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E8172-B0ED-4BE3-867B-C3DB9267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950" b="0" lang="ar-EG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 lang="ar-EG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دفعات متتابعة وتغذية مرتبطة بالنمو والمياه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D1F3B-2CEE-48FA-886F-FCBEC54C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433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550" b="1">
                <a:solidFill>
                  <a:srgbClr val="9AD5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2550" b="1" lang="ar-EG">
                <a:solidFill>
                  <a:srgbClr val="9AD5C0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lang="ar-EG">
                <a:solidFill>
                  <a:srgbClr val="9AD5C0"/>
                </a:solidFill>
                <a:latin typeface="DejaVu Sans"/>
                <a:ea typeface="DejaVu Sans"/>
                <a:cs typeface="DejaVu Sans"/>
              </a:rPr>
              <a:t>الحصاد والتداول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18A26-820E-467D-BF84-A5D113D7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950" b="0" lang="ar-EG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 lang="ar-EG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وزن وفرز ونقل وتوريد وفق التفويض والسوق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F4A6E-1317-410B-A6A3-E0BE9B9C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650" b="0">
                <a:solidFill>
                  <a:srgbClr val="C0D9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650" b="0" lang="ar-EG">
                <a:solidFill>
                  <a:srgbClr val="C0D9CE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lang="ar-EG">
                <a:solidFill>
                  <a:srgbClr val="C0D9CE"/>
                </a:solidFill>
                <a:latin typeface="DejaVu Sans"/>
                <a:ea typeface="DejaVu Sans"/>
                <a:cs typeface="DejaVu Sans"/>
              </a:rPr>
              <a:t>البلطي محور تخطيطي؛ البوري والطوبار بحسب الملاءمة الفنية والاقتصادية</a:t>
            </a:r>
          </a:p>
        </p:txBody>
      </p:sp>
    </p:spTree>
    <p:extLst>
      <p:ext uri="{BB962C8B-B14F-4D97-AF65-F5344CB8AC3E}">
        <p14:creationId xmlns:p14="http://schemas.microsoft.com/office/powerpoint/2010/main" val="12873269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03E0E-5323-4872-B095-5BDA9808F4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a26e7473d445c"/>
          <a:stretch xmlns:a="http://schemas.openxmlformats.org/drawingml/2006/main"/>
        </p:blipFill>
        <p:spPr>
          <a:xfrm xmlns:a="http://schemas.openxmlformats.org/drawingml/2006/main">
            <a:off x="190500" y="272795"/>
            <a:ext cx="904875" cy="8355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E0A85-9096-449E-8CC2-A4862765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000"/>
            <a:ext cx="10239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3150" b="1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3150" b="1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rPr>
              <a:t>البرنامج الأولي للمزارع الثلاث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11F5E-F5D4-4320-9BCA-EE9CD3AB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125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الحصان البلاتيني | مقدم إلى جهاز مستقبل مصر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3244C-297A-4B40-92FD-5EC07683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2935F-97BE-43F0-A8B2-1C0DB53D9A59}"/>
              </a:ext>
            </a:extLst>
          </p:cNvPr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048000"/>
                <a:gridCol w="2381250"/>
                <a:gridCol w="2476500"/>
              </a:tblGrid>
              <a:tr h="742950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1" lang="ar-EG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طن سنوياً مفترض</a:t>
                      </a:r>
                    </a:p>
                  </a:txBody>
                  <a:tcPr marL="91440" marR="91440" marT="45720" marB="45720" anchor="ctr">
                    <a:solidFill>
                      <a:srgbClr val="102E3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1" lang="ar-EG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صافي إنتاجي مفترض</a:t>
                      </a:r>
                    </a:p>
                  </a:txBody>
                  <a:tcPr marL="91440" marR="91440" marT="45720" marB="45720" anchor="ctr">
                    <a:solidFill>
                      <a:srgbClr val="102E3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1" lang="ar-EG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فدان إجمالي</a:t>
                      </a:r>
                    </a:p>
                  </a:txBody>
                  <a:tcPr marL="91440" marR="91440" marT="45720" marB="45720" anchor="ctr">
                    <a:solidFill>
                      <a:srgbClr val="102E3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1" lang="ar-EG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الموقع</a:t>
                      </a:r>
                    </a:p>
                  </a:txBody>
                  <a:tcPr marL="91440" marR="91440" marT="45720" marB="45720" anchor="ctr">
                    <a:solidFill>
                      <a:srgbClr val="102E3D"/>
                    </a:solidFill>
                  </a:tcPr>
                </a:tc>
              </a:tr>
              <a:tr h="742950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٥١٠٠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٨٥٠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١٠٠٠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البقعة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</a:tr>
              <a:tr h="742950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١٠٢٠٠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١٧٠٠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٢٠٠٠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المطار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٣٠٦٠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٥١٠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٦٠٠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برسيق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</a:tr>
              <a:tr h="742950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١٨٣٦٠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٣٠٦٠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٣٦٠٠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الإجمالي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4504F-9FFA-47D8-B726-203D81D6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725" b="0">
                <a:solidFill>
                  <a:srgbClr val="0F7E6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725" b="0" lang="ar-EG">
                <a:solidFill>
                  <a:srgbClr val="0F7E6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lang="ar-EG">
                <a:solidFill>
                  <a:srgbClr val="0F7E6C"/>
                </a:solidFill>
                <a:latin typeface="DejaVu Sans"/>
                <a:ea typeface="DejaVu Sans"/>
                <a:cs typeface="DejaVu Sans"/>
              </a:rPr>
              <a:t>افتراض أولي: ٨٥٪ صافي إنتاجي × ٦ أطنان للفدان سنوياً عند الاستقرار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C4A9A-96B6-4C65-97A2-29DBFC19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500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تعتمد النسبة والإنتاجية بعد الدراسة؛ يبدأ التشغيل بدفعات تجريبية</a:t>
            </a:r>
          </a:p>
        </p:txBody>
      </p:sp>
    </p:spTree>
    <p:extLst>
      <p:ext uri="{BB962C8B-B14F-4D97-AF65-F5344CB8AC3E}">
        <p14:creationId xmlns:p14="http://schemas.microsoft.com/office/powerpoint/2010/main" val="6720117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D42F5-4341-4894-ABB0-8499B2AD5C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f1f4cfd28462e"/>
          <a:stretch xmlns:a="http://schemas.openxmlformats.org/drawingml/2006/main"/>
        </p:blipFill>
        <p:spPr>
          <a:xfrm xmlns:a="http://schemas.openxmlformats.org/drawingml/2006/main">
            <a:off x="190500" y="272795"/>
            <a:ext cx="904875" cy="8355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DCAE2-CF71-4BA8-BA86-3A07C11A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000"/>
            <a:ext cx="10239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3150" b="1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3150" b="1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rPr>
              <a:t>خطة التنفيذ الاسترشادية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F78D0-274B-47E1-BA2F-8655232A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125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الحصان البلاتيني | مقدم إلى جهاز مستقبل مصر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B07B3-A744-42C5-B977-D93635BA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7B83C-B0D6-4F3E-ABC5-7B99FC0A251F}"/>
              </a:ext>
            </a:extLst>
          </p:cNvPr>
          <p:cNvGraphicFramePr/>
          <p:nvPr/>
        </p:nvGraphicFramePr>
        <p:xfrm>
          <a:off xmlns:a="http://schemas.openxmlformats.org/drawingml/2006/main" x="666750" y="1438275"/>
          <a:ext xmlns:a="http://schemas.openxmlformats.org/drawingml/2006/main" cx="10858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2857500"/>
                <a:gridCol w="3238500"/>
              </a:tblGrid>
              <a:tr h="682625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725" b="1" lang="ar-EG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مخرج المرحلة</a:t>
                      </a:r>
                    </a:p>
                  </a:txBody>
                  <a:tcPr marL="91440" marR="91440" marT="45720" marB="45720" anchor="ctr">
                    <a:solidFill>
                      <a:srgbClr val="102E3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725" b="1" lang="ar-EG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التوقيت</a:t>
                      </a:r>
                    </a:p>
                  </a:txBody>
                  <a:tcPr marL="91440" marR="91440" marT="45720" marB="45720" anchor="ctr">
                    <a:solidFill>
                      <a:srgbClr val="102E3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725" b="1" lang="ar-EG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العمل</a:t>
                      </a:r>
                    </a:p>
                  </a:txBody>
                  <a:tcPr marL="91440" marR="91440" marT="45720" marB="45720" anchor="ctr">
                    <a:solidFill>
                      <a:srgbClr val="102E3D"/>
                    </a:solidFill>
                  </a:tcPr>
                </a:tc>
              </a:tr>
              <a:tr h="682625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725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محضر حصر وبيانات موقع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725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الشهر ١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725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التسليم والدراسات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</a:tr>
              <a:tr h="682625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725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تصميم وقطاعات مختبرة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725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الأشهر ١–٤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725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التصميم والتجهيز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725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خطة زريعة وتخزين أولي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725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الأشهر ٣–٦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725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الحضانة والتجربة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</a:tr>
              <a:tr h="682625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725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توسع مشروط بنتائج التشغيل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725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الأشهر ٦–٩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725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إدخال القطاعات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725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يتحدد بحسب النمو والموسم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725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الأشهر ١٠–١٢ تقديرياً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725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أول حصاد تجاري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DF579-9F11-4286-8ECA-40BB635D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500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التوسع بعد اعتماد الجاهزية والنتائج؛ سنة التجهيز لا تعادل سنة الإنتاج المستقر</a:t>
            </a:r>
          </a:p>
        </p:txBody>
      </p:sp>
    </p:spTree>
    <p:extLst>
      <p:ext uri="{BB962C8B-B14F-4D97-AF65-F5344CB8AC3E}">
        <p14:creationId xmlns:p14="http://schemas.microsoft.com/office/powerpoint/2010/main" val="8314239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1430B-AD1C-43B5-B3DF-CB2DE944A1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e77987f6a46c1"/>
          <a:stretch xmlns:a="http://schemas.openxmlformats.org/drawingml/2006/main"/>
        </p:blipFill>
        <p:spPr>
          <a:xfrm xmlns:a="http://schemas.openxmlformats.org/drawingml/2006/main">
            <a:off x="190500" y="272795"/>
            <a:ext cx="904875" cy="8355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EF439-40E9-4B42-903D-0E6DD677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000"/>
            <a:ext cx="10239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3150" b="1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3150" b="1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rPr>
              <a:t>أساس حساب الأعلاف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2610E-EC35-4727-B3DD-B96E2FBF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125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الحصان البلاتيني | مقدم إلى جهاز مستقبل مصر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9C50D-2FF8-4A6C-A933-52E282B9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83BAE-BA57-40C9-B204-14AD9CFD3EC2}"/>
              </a:ext>
            </a:extLst>
          </p:cNvPr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8585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3143250"/>
                <a:gridCol w="3048000"/>
              </a:tblGrid>
              <a:tr h="695325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1" lang="ar-EG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تكلفة الأعلاف مليون جنيه</a:t>
                      </a:r>
                    </a:p>
                  </a:txBody>
                  <a:tcPr marL="91440" marR="91440" marT="45720" marB="45720" anchor="ctr">
                    <a:solidFill>
                      <a:srgbClr val="102E3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1" lang="ar-EG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علف طن سنوياً</a:t>
                      </a:r>
                    </a:p>
                  </a:txBody>
                  <a:tcPr marL="91440" marR="91440" marT="45720" marB="45720" anchor="ctr">
                    <a:solidFill>
                      <a:srgbClr val="102E3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1" lang="ar-EG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الموقع</a:t>
                      </a:r>
                    </a:p>
                  </a:txBody>
                  <a:tcPr marL="91440" marR="91440" marT="45720" marB="45720" anchor="ctr">
                    <a:solidFill>
                      <a:srgbClr val="102E3D"/>
                    </a:solidFill>
                  </a:tcPr>
                </a:tc>
              </a:tr>
              <a:tr h="695325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١٧٦٫٨٠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٦٨٠٠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البقعة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</a:tr>
              <a:tr h="695325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٣٥٣٫٦٠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١٣٦٠٠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المطار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١٠٦٫٠٨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٤٠٨٠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برسيق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</a:tr>
              <a:tr h="695325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٦٣٦٫٤٨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٢٤٤٨٠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الإجمالي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8C2F9-8616-4C11-943D-2C054F5F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950" b="0">
                <a:solidFill>
                  <a:srgbClr val="0F7E6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950" b="0" lang="ar-EG">
                <a:solidFill>
                  <a:srgbClr val="0F7E6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 lang="ar-EG">
                <a:solidFill>
                  <a:srgbClr val="0F7E6C"/>
                </a:solidFill>
                <a:latin typeface="DejaVu Sans"/>
                <a:ea typeface="DejaVu Sans"/>
                <a:cs typeface="DejaVu Sans"/>
              </a:rPr>
              <a:t>٨ أطنان علف للفدان الإنتاجي × ٢٦٠٠٠ جنيه للطن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133C2-372A-4B51-8280-729CD203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86425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500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افتراض سنوي عند صافي ٨٥٪؛ أعلاف فقط، وليس ميزانية المشروع أو مستحقات الشركة</a:t>
            </a:r>
          </a:p>
        </p:txBody>
      </p:sp>
    </p:spTree>
    <p:extLst>
      <p:ext uri="{BB962C8B-B14F-4D97-AF65-F5344CB8AC3E}">
        <p14:creationId xmlns:p14="http://schemas.microsoft.com/office/powerpoint/2010/main" val="1441996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E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F802E1-88A6-4CBD-8C48-4FB8AEBBA0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fc7ce2d544b31"/>
          <a:stretch xmlns:a="http://schemas.openxmlformats.org/drawingml/2006/main"/>
        </p:blipFill>
        <p:spPr>
          <a:xfrm xmlns:a="http://schemas.openxmlformats.org/drawingml/2006/main">
            <a:off x="190500" y="272795"/>
            <a:ext cx="904875" cy="8355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4DB21-95A0-492A-A6FE-D66C3268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000"/>
            <a:ext cx="10239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3150" b="1" lang="ar-EG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lang="ar-EG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الإشراف والمتابعة الرقمية المقترحة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AC539-7741-4C09-BE5F-D952A4F1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AEC9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125" b="0" lang="ar-EG">
                <a:solidFill>
                  <a:srgbClr val="AEC9C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lang="ar-EG">
                <a:solidFill>
                  <a:srgbClr val="AEC9C0"/>
                </a:solidFill>
                <a:latin typeface="DejaVu Sans"/>
                <a:ea typeface="DejaVu Sans"/>
                <a:cs typeface="DejaVu Sans"/>
              </a:rPr>
              <a:t>الحصان البلاتيني | مقدم إلى جهاز مستقبل مصر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7CD4B-DED5-4663-AE3A-07AB4380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AEC9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AEC9C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EC9C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27078-B5F4-495A-85F3-1A1FFEA5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2775" b="1" lang="ar-EG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 lang="ar-EG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الجهاز يعتمد ويشرف ويستلم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C273B-BE12-4E29-983C-4FB20F5E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75" b="0">
                <a:solidFill>
                  <a:srgbClr val="C9E2D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2175" b="0" lang="ar-EG">
                <a:solidFill>
                  <a:srgbClr val="C9E2D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 lang="ar-EG">
                <a:solidFill>
                  <a:srgbClr val="C9E2D5"/>
                </a:solidFill>
                <a:latin typeface="DejaVu Sans"/>
                <a:ea typeface="DejaVu Sans"/>
                <a:cs typeface="DejaVu Sans"/>
              </a:rPr>
              <a:t>الشركة تخطط وتوفر الموارد وتنفذ وترفع التقارير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82479-A40A-442D-9D56-BD363EF6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025" b="0">
                <a:solidFill>
                  <a:srgbClr val="9AD5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2025" b="0" lang="ar-EG">
                <a:solidFill>
                  <a:srgbClr val="9AD5C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lang="ar-EG">
                <a:solidFill>
                  <a:srgbClr val="9AD5C0"/>
                </a:solidFill>
                <a:latin typeface="DejaVu Sans"/>
                <a:ea typeface="DejaVu Sans"/>
                <a:cs typeface="DejaVu Sans"/>
              </a:rPr>
              <a:t>يومياً: مياه وتغذية ونفوق واستثناءات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30187-F601-4157-9036-C6C53B4A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290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025" b="0">
                <a:solidFill>
                  <a:srgbClr val="9AD5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2025" b="0" lang="ar-EG">
                <a:solidFill>
                  <a:srgbClr val="9AD5C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lang="ar-EG">
                <a:solidFill>
                  <a:srgbClr val="9AD5C0"/>
                </a:solidFill>
                <a:latin typeface="DejaVu Sans"/>
                <a:ea typeface="DejaVu Sans"/>
                <a:cs typeface="DejaVu Sans"/>
              </a:rPr>
              <a:t>أسبوعياً: نمو ومقارنة قطاعات وإجراءات تصحيحية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0D6FB-3B6A-41AB-851A-6E3AEEFA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025" b="0">
                <a:solidFill>
                  <a:srgbClr val="9AD5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2025" b="0" lang="ar-EG">
                <a:solidFill>
                  <a:srgbClr val="9AD5C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lang="ar-EG">
                <a:solidFill>
                  <a:srgbClr val="9AD5C0"/>
                </a:solidFill>
                <a:latin typeface="DejaVu Sans"/>
                <a:ea typeface="DejaVu Sans"/>
                <a:cs typeface="DejaVu Sans"/>
              </a:rPr>
              <a:t>شهرياً: إنتاج وتكاليف ومخاطر ومخرجات تنفيذ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43C19-8397-4E53-A605-C2634A35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483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C0D9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500" b="0" lang="ar-EG">
                <a:solidFill>
                  <a:srgbClr val="C0D9CE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lang="ar-EG">
                <a:solidFill>
                  <a:srgbClr val="C0D9CE"/>
                </a:solidFill>
                <a:latin typeface="DejaVu Sans"/>
                <a:ea typeface="DejaVu Sans"/>
                <a:cs typeface="DejaVu Sans"/>
              </a:rPr>
              <a:t>البوابة توضح طريقة الإدارة المقترحة؛ تشغيل نظام فعلي يخضع لاعتماد النطاق</a:t>
            </a:r>
          </a:p>
        </p:txBody>
      </p:sp>
    </p:spTree>
    <p:extLst>
      <p:ext uri="{BB962C8B-B14F-4D97-AF65-F5344CB8AC3E}">
        <p14:creationId xmlns:p14="http://schemas.microsoft.com/office/powerpoint/2010/main" val="18064998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7EC6E-AC18-4BD7-A809-47E439594E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d48edc97f40a9"/>
          <a:stretch xmlns:a="http://schemas.openxmlformats.org/drawingml/2006/main"/>
        </p:blipFill>
        <p:spPr>
          <a:xfrm xmlns:a="http://schemas.openxmlformats.org/drawingml/2006/main">
            <a:off x="190500" y="272795"/>
            <a:ext cx="904875" cy="8355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67F05-9C10-4AED-BF33-B098690D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000"/>
            <a:ext cx="10239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3150" b="1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3150" b="1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rPr>
              <a:t>ضبط المخاطر والتكليف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9B2C9-842D-4998-AC59-6F2FF937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125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الحصان البلاتيني | مقدم إلى جهاز مستقبل مصر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C3183-F22B-4825-9D30-F542F964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76900-322B-423C-AFBD-1541F7B8B8EF}"/>
              </a:ext>
            </a:extLst>
          </p:cNvPr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8585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810500"/>
                <a:gridCol w="3048000"/>
              </a:tblGrid>
              <a:tr h="723900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1" lang="ar-EG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الإجراء المقترح</a:t>
                      </a:r>
                    </a:p>
                  </a:txBody>
                  <a:tcPr marL="91440" marR="91440" marT="45720" marB="45720" anchor="ctr">
                    <a:solidFill>
                      <a:srgbClr val="102E3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1" lang="ar-EG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المجال</a:t>
                      </a:r>
                    </a:p>
                  </a:txBody>
                  <a:tcPr marL="91440" marR="91440" marT="45720" marB="45720" anchor="ctr">
                    <a:solidFill>
                      <a:srgbClr val="102E3D"/>
                    </a:solidFill>
                  </a:tcPr>
                </a:tc>
              </a:tr>
              <a:tr h="723900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اختبارات وخطة بديلة وطاقة احتياطية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المياه والطاقة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</a:tr>
              <a:tr h="723900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فحص التوريد والمراقبة والتصعيد الفني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الزريعة والنفوق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موازنة تشغيل وجدول مستخلصات واضح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السيولة والأسعار</a:t>
                      </a:r>
                    </a:p>
                  </a:txBody>
                  <a:tcPr marL="91440" marR="91440" marT="45720" marB="45720" anchor="ctr">
                    <a:solidFill>
                      <a:srgbClr val="EDF3EE"/>
                    </a:solidFill>
                  </a:tcPr>
                </a:tc>
              </a:tr>
              <a:tr h="723900"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خطة أحجام وتداول ونقل قبل الحصاد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r" rtl="1"/>
                      <a:r>
                        <a:rPr sz="1800" b="0" lang="ar-EG">
                          <a:solidFill>
                            <a:srgbClr val="102E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التسويق والنقل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AB303-A8ED-4F84-9EF9-5AC7D0FD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7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725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العقد يحدد تحمل الأعلاف والزريعة والطاقة والإنشاءات، وملكية الأصول والتصرف بالإنتاج</a:t>
            </a:r>
          </a:p>
        </p:txBody>
      </p:sp>
    </p:spTree>
    <p:extLst>
      <p:ext uri="{BB962C8B-B14F-4D97-AF65-F5344CB8AC3E}">
        <p14:creationId xmlns:p14="http://schemas.microsoft.com/office/powerpoint/2010/main" val="2686989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C77BA-3AFA-4EB2-91A7-013B0DBDB7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61ae140a14d0b"/>
          <a:stretch xmlns:a="http://schemas.openxmlformats.org/drawingml/2006/main"/>
        </p:blipFill>
        <p:spPr>
          <a:xfrm xmlns:a="http://schemas.openxmlformats.org/drawingml/2006/main">
            <a:off x="190500" y="272795"/>
            <a:ext cx="904875" cy="8355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90FCC-F6FB-4CD1-B726-A8D430A1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000"/>
            <a:ext cx="10239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3150" b="1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3150" b="1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rPr>
              <a:t>الموافقة المبدئية على المعاينة والدراسة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2FF81-3BD1-4968-9FE6-4652D869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41985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125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الحصان البلاتيني | مقدم إلى جهاز مستقبل مصر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347E6-8E7E-4BBF-9105-FBA3E20C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89410-C8B3-41A2-BDBB-F90A9911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53352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325" b="1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2325" b="1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rPr>
              <a:t>تحديد نطاق التكليف لكل مزرعة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6C2AD-2ABC-4009-9282-D349374F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62200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00" b="0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2100" b="0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rPr>
              <a:t>معاينة مشتركة وحصر الأصول والمرافق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04BA1-E5FC-4F25-B798-CE1B0CD5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908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00" b="0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2100" b="0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rPr>
              <a:t>اعتماد التصميم والمقايسات وخطة التعبئة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89BDB-7069-47A6-9783-80EB0B57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19550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00" b="0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2100" b="0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lang="ar-EG">
                <a:solidFill>
                  <a:srgbClr val="102E3D"/>
                </a:solidFill>
                <a:latin typeface="DejaVu Sans"/>
                <a:ea typeface="DejaVu Sans"/>
                <a:cs typeface="DejaVu Sans"/>
              </a:rPr>
              <a:t>تحديد المستحقات والمستخلصات والاستلام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E8A05-F811-445A-AFA0-25C0F25344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06172f40f43e3"/>
          <a:stretch xmlns:a="http://schemas.openxmlformats.org/drawingml/2006/main"/>
        </p:blipFill>
        <p:spPr>
          <a:xfrm xmlns:a="http://schemas.openxmlformats.org/drawingml/2006/main">
            <a:off x="857250" y="1685925"/>
            <a:ext cx="2714625" cy="2714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AE6AF-34A5-4072-893F-15D83BE8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328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F7E6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725" b="1" lang="ar-EG">
                <a:solidFill>
                  <a:srgbClr val="0F7E6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lang="ar-EG">
                <a:solidFill>
                  <a:srgbClr val="0F7E6C"/>
                </a:solidFill>
                <a:latin typeface="DejaVu Sans"/>
                <a:ea typeface="DejaVu Sans"/>
                <a:cs typeface="DejaVu Sans"/>
              </a:rPr>
              <a:t>استكشف البوابة التفاعلية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BB26C-3526-4982-815C-C57A26ED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328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 rtl="1">
              <a:defRPr sz="1275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lang="ar-EG">
                <a:solidFill>
                  <a:srgbClr val="5F7979"/>
                </a:solidFill>
                <a:latin typeface="DejaVu Sans"/>
                <a:ea typeface="DejaVu Sans"/>
                <a:cs typeface="DejaVu Sans"/>
              </a:rPr>
              <a:t>يفتح مباشرة دون تسجيل دخول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053E7-4844-4CC1-A711-A03D4595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F7E6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F7E6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0F7E6C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75e0b9eecd0f49a6"/>
              </a:rPr>
              <a:t>platinum-horse-aqua.dana-je-soboh.chatgpt.site</a:t>
            </a:r>
          </a:p>
        </p:txBody>
      </p:sp>
    </p:spTree>
    <p:extLst>
      <p:ext uri="{BB962C8B-B14F-4D97-AF65-F5344CB8AC3E}">
        <p14:creationId xmlns:p14="http://schemas.microsoft.com/office/powerpoint/2010/main" val="16591301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2026-10-11T14:20:33.7180000Z</dcterms:created>
  <dcterms:modified xsi:type="dcterms:W3CDTF">2026-10-11T14:20:33.7190000Z</dcterms:modified>
</coreProperties>
</file>